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sldIdLst>
    <p:sldId id="257" r:id="rId2"/>
  </p:sldIdLst>
  <p:sldSz cx="9906000" cy="6858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1392"/>
    <p:restoredTop sz="94686"/>
  </p:normalViewPr>
  <p:slideViewPr>
    <p:cSldViewPr snapToGrid="0">
      <p:cViewPr>
        <p:scale>
          <a:sx n="141" d="100"/>
          <a:sy n="141" d="100"/>
        </p:scale>
        <p:origin x="88" y="-11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742950" y="1122363"/>
            <a:ext cx="84201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238250" y="3602038"/>
            <a:ext cx="74295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BC08885-C3A0-8E41-B623-C8761A8F2AB5}"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92995947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C08885-C3A0-8E41-B623-C8761A8F2AB5}"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564202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5879" y="1709740"/>
            <a:ext cx="8543925"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75879" y="4589465"/>
            <a:ext cx="8543925"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BC08885-C3A0-8E41-B623-C8761A8F2AB5}"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58808487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81038"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14913" y="1825625"/>
            <a:ext cx="421005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BC08885-C3A0-8E41-B623-C8761A8F2AB5}"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19948028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82328" y="365126"/>
            <a:ext cx="8543925"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82329" y="1681163"/>
            <a:ext cx="4190702"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82329" y="2505075"/>
            <a:ext cx="4190702"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14913" y="1681163"/>
            <a:ext cx="4211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14913" y="2505075"/>
            <a:ext cx="4211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BC08885-C3A0-8E41-B623-C8761A8F2AB5}" type="datetimeFigureOut">
              <a:rPr lang="en-US" smtClean="0"/>
              <a:t>11/7/25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42800136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BC08885-C3A0-8E41-B623-C8761A8F2AB5}" type="datetimeFigureOut">
              <a:rPr lang="en-US" smtClean="0"/>
              <a:t>11/7/25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52059940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BC08885-C3A0-8E41-B623-C8761A8F2AB5}" type="datetimeFigureOut">
              <a:rPr lang="en-US" smtClean="0"/>
              <a:t>11/7/25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0555050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4211340" y="987426"/>
            <a:ext cx="5014913"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C08885-C3A0-8E41-B623-C8761A8F2AB5}"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36608411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2328" y="457200"/>
            <a:ext cx="3194943"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4211340" y="987426"/>
            <a:ext cx="5014913"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682328" y="2057400"/>
            <a:ext cx="3194943"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3BC08885-C3A0-8E41-B623-C8761A8F2AB5}" type="datetimeFigureOut">
              <a:rPr lang="en-US" smtClean="0"/>
              <a:t>11/7/25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282804346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C08885-C3A0-8E41-B623-C8761A8F2AB5}"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42220831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088982" y="365125"/>
            <a:ext cx="2135981"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81038" y="365125"/>
            <a:ext cx="628411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BC08885-C3A0-8E41-B623-C8761A8F2AB5}" type="datetimeFigureOut">
              <a:rPr lang="en-US" smtClean="0"/>
              <a:t>11/7/25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98EF76-DD17-FE42-90B4-838150C13332}" type="slidenum">
              <a:rPr lang="en-US" smtClean="0"/>
              <a:t>‹#›</a:t>
            </a:fld>
            <a:endParaRPr lang="en-US"/>
          </a:p>
        </p:txBody>
      </p:sp>
    </p:spTree>
    <p:extLst>
      <p:ext uri="{BB962C8B-B14F-4D97-AF65-F5344CB8AC3E}">
        <p14:creationId xmlns:p14="http://schemas.microsoft.com/office/powerpoint/2010/main" val="167353930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81038" y="365126"/>
            <a:ext cx="8543925"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81038" y="1825625"/>
            <a:ext cx="8543925"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81038" y="6356352"/>
            <a:ext cx="222885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BC08885-C3A0-8E41-B623-C8761A8F2AB5}" type="datetimeFigureOut">
              <a:rPr lang="en-US" smtClean="0"/>
              <a:t>11/7/25</a:t>
            </a:fld>
            <a:endParaRPr lang="en-US"/>
          </a:p>
        </p:txBody>
      </p:sp>
      <p:sp>
        <p:nvSpPr>
          <p:cNvPr id="5" name="Footer Placeholder 4"/>
          <p:cNvSpPr>
            <a:spLocks noGrp="1"/>
          </p:cNvSpPr>
          <p:nvPr>
            <p:ph type="ftr" sz="quarter" idx="3"/>
          </p:nvPr>
        </p:nvSpPr>
        <p:spPr>
          <a:xfrm>
            <a:off x="3281363" y="6356352"/>
            <a:ext cx="3343275"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6996113" y="6356352"/>
            <a:ext cx="222885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C398EF76-DD17-FE42-90B4-838150C13332}" type="slidenum">
              <a:rPr lang="en-US" smtClean="0"/>
              <a:t>‹#›</a:t>
            </a:fld>
            <a:endParaRPr lang="en-US"/>
          </a:p>
        </p:txBody>
      </p:sp>
    </p:spTree>
    <p:extLst>
      <p:ext uri="{BB962C8B-B14F-4D97-AF65-F5344CB8AC3E}">
        <p14:creationId xmlns:p14="http://schemas.microsoft.com/office/powerpoint/2010/main" val="277319111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1" name="Picture 20" descr="A black and white image of spirals&#10;&#10;AI-generated content may be incorrect.">
            <a:extLst>
              <a:ext uri="{FF2B5EF4-FFF2-40B4-BE49-F238E27FC236}">
                <a16:creationId xmlns:a16="http://schemas.microsoft.com/office/drawing/2014/main" id="{C03D7A7F-2D31-A7FF-B123-247F2A915A88}"/>
              </a:ext>
            </a:extLst>
          </p:cNvPr>
          <p:cNvPicPr>
            <a:picLocks noChangeAspect="1"/>
          </p:cNvPicPr>
          <p:nvPr/>
        </p:nvPicPr>
        <p:blipFill>
          <a:blip r:embed="rId2"/>
          <a:srcRect r="14829"/>
          <a:stretch>
            <a:fillRect/>
          </a:stretch>
        </p:blipFill>
        <p:spPr>
          <a:xfrm>
            <a:off x="303009" y="-9053"/>
            <a:ext cx="2149250" cy="3412208"/>
          </a:xfrm>
          <a:prstGeom prst="rect">
            <a:avLst/>
          </a:prstGeom>
        </p:spPr>
      </p:pic>
      <p:sp>
        <p:nvSpPr>
          <p:cNvPr id="22" name="TextBox 21">
            <a:extLst>
              <a:ext uri="{FF2B5EF4-FFF2-40B4-BE49-F238E27FC236}">
                <a16:creationId xmlns:a16="http://schemas.microsoft.com/office/drawing/2014/main" id="{0FFECBE8-F4B3-26AB-05E9-A041FFDB866A}"/>
              </a:ext>
            </a:extLst>
          </p:cNvPr>
          <p:cNvSpPr txBox="1"/>
          <p:nvPr/>
        </p:nvSpPr>
        <p:spPr>
          <a:xfrm rot="10800000">
            <a:off x="1951970" y="1373885"/>
            <a:ext cx="3486805" cy="646331"/>
          </a:xfrm>
          <a:prstGeom prst="rect">
            <a:avLst/>
          </a:prstGeom>
          <a:noFill/>
        </p:spPr>
        <p:txBody>
          <a:bodyPr wrap="square">
            <a:spAutoFit/>
          </a:bodyPr>
          <a:lstStyle/>
          <a:p>
            <a:pPr algn="ctr"/>
            <a:r>
              <a:rPr lang="en-US" sz="1200" dirty="0">
                <a:latin typeface="Gill Sans" panose="020B0502020104020203" pitchFamily="34" charset="-79"/>
                <a:ea typeface="Open Sans" pitchFamily="2" charset="0"/>
                <a:cs typeface="Gill Sans" panose="020B0502020104020203" pitchFamily="34" charset="-79"/>
              </a:rPr>
              <a:t>Slack me at Billy Li in PanDust2025</a:t>
            </a:r>
          </a:p>
          <a:p>
            <a:pPr algn="ctr"/>
            <a:r>
              <a:rPr lang="en-US" sz="1200" dirty="0">
                <a:latin typeface="Gill Sans" panose="020B0502020104020203" pitchFamily="34" charset="-79"/>
                <a:ea typeface="Open Sans" pitchFamily="2" charset="0"/>
                <a:cs typeface="Gill Sans" panose="020B0502020104020203" pitchFamily="34" charset="-79"/>
              </a:rPr>
              <a:t> </a:t>
            </a:r>
          </a:p>
          <a:p>
            <a:pPr algn="ctr"/>
            <a:r>
              <a:rPr lang="en-US" sz="1200" dirty="0" err="1">
                <a:latin typeface="Gill Sans" panose="020B0502020104020203" pitchFamily="34" charset="-79"/>
                <a:ea typeface="Open Sans" pitchFamily="2" charset="0"/>
                <a:cs typeface="Gill Sans" panose="020B0502020104020203" pitchFamily="34" charset="-79"/>
              </a:rPr>
              <a:t>billyli@uw.edu</a:t>
            </a:r>
            <a:endParaRPr lang="en-US" dirty="0">
              <a:latin typeface="Gill Sans" panose="020B0502020104020203" pitchFamily="34" charset="-79"/>
              <a:cs typeface="Gill Sans" panose="020B0502020104020203" pitchFamily="34" charset="-79"/>
            </a:endParaRPr>
          </a:p>
        </p:txBody>
      </p:sp>
      <p:sp>
        <p:nvSpPr>
          <p:cNvPr id="24" name="TextBox 23">
            <a:extLst>
              <a:ext uri="{FF2B5EF4-FFF2-40B4-BE49-F238E27FC236}">
                <a16:creationId xmlns:a16="http://schemas.microsoft.com/office/drawing/2014/main" id="{18DF8DDF-32A1-8039-73FE-78D91F88247B}"/>
              </a:ext>
            </a:extLst>
          </p:cNvPr>
          <p:cNvSpPr txBox="1"/>
          <p:nvPr/>
        </p:nvSpPr>
        <p:spPr>
          <a:xfrm rot="10800000">
            <a:off x="4872799" y="1219996"/>
            <a:ext cx="2556701" cy="954107"/>
          </a:xfrm>
          <a:prstGeom prst="rect">
            <a:avLst/>
          </a:prstGeom>
          <a:noFill/>
        </p:spPr>
        <p:txBody>
          <a:bodyPr wrap="square" rtlCol="0">
            <a:spAutoFit/>
          </a:bodyPr>
          <a:lstStyle/>
          <a:p>
            <a:r>
              <a:rPr lang="en-US" sz="1400" dirty="0">
                <a:latin typeface="Gill Sans" panose="020B0502020104020203" pitchFamily="34" charset="-79"/>
                <a:cs typeface="Gill Sans" panose="020B0502020104020203" pitchFamily="34" charset="-79"/>
              </a:rPr>
              <a:t>I’m interested to learn about the current understandings on how Fe is incorporated into dust, and into which Fe-bearing species?</a:t>
            </a:r>
          </a:p>
        </p:txBody>
      </p:sp>
      <p:sp>
        <p:nvSpPr>
          <p:cNvPr id="25" name="TextBox 24">
            <a:extLst>
              <a:ext uri="{FF2B5EF4-FFF2-40B4-BE49-F238E27FC236}">
                <a16:creationId xmlns:a16="http://schemas.microsoft.com/office/drawing/2014/main" id="{BD37C93B-7DEC-468C-5C27-699E2CA622F8}"/>
              </a:ext>
            </a:extLst>
          </p:cNvPr>
          <p:cNvSpPr txBox="1"/>
          <p:nvPr/>
        </p:nvSpPr>
        <p:spPr>
          <a:xfrm rot="10800000">
            <a:off x="7492252" y="468005"/>
            <a:ext cx="2406491" cy="2492990"/>
          </a:xfrm>
          <a:prstGeom prst="rect">
            <a:avLst/>
          </a:prstGeom>
          <a:noFill/>
        </p:spPr>
        <p:txBody>
          <a:bodyPr wrap="square">
            <a:spAutoFit/>
          </a:bodyPr>
          <a:lstStyle/>
          <a:p>
            <a:pPr algn="ctr"/>
            <a:r>
              <a:rPr lang="en-US" sz="1200" dirty="0">
                <a:latin typeface="Gill Sans" panose="020B0502020104020203" pitchFamily="34" charset="-79"/>
                <a:cs typeface="Gill Sans" panose="020B0502020104020203" pitchFamily="34" charset="-79"/>
              </a:rPr>
              <a:t>Fe abundance/depletion comparisons for six H II regions and neutral gas sightlines in their vicinity. The number of available neutral gas sightlines are labelled with N. The Fe abundance of SMC N88A (5th column) is the ionic sum of Fe III and Fe IV, while the other H II Fe abundances are ionization corrected from only Fe III measurements. The upper and lower limits represent two different ionization correction schemes. </a:t>
            </a:r>
          </a:p>
        </p:txBody>
      </p:sp>
      <p:pic>
        <p:nvPicPr>
          <p:cNvPr id="26" name="Picture 25" descr="A diagram of a diagram&#10;&#10;AI-generated content may be incorrect.">
            <a:extLst>
              <a:ext uri="{FF2B5EF4-FFF2-40B4-BE49-F238E27FC236}">
                <a16:creationId xmlns:a16="http://schemas.microsoft.com/office/drawing/2014/main" id="{CD6BBB84-DA82-956D-8E08-F763988B2876}"/>
              </a:ext>
            </a:extLst>
          </p:cNvPr>
          <p:cNvPicPr>
            <a:picLocks noChangeAspect="1"/>
          </p:cNvPicPr>
          <p:nvPr/>
        </p:nvPicPr>
        <p:blipFill>
          <a:blip r:embed="rId3"/>
          <a:stretch>
            <a:fillRect/>
          </a:stretch>
        </p:blipFill>
        <p:spPr>
          <a:xfrm>
            <a:off x="4975559" y="3720003"/>
            <a:ext cx="4867690" cy="2839486"/>
          </a:xfrm>
          <a:prstGeom prst="rect">
            <a:avLst/>
          </a:prstGeom>
        </p:spPr>
      </p:pic>
      <p:sp>
        <p:nvSpPr>
          <p:cNvPr id="28" name="TextBox 27">
            <a:extLst>
              <a:ext uri="{FF2B5EF4-FFF2-40B4-BE49-F238E27FC236}">
                <a16:creationId xmlns:a16="http://schemas.microsoft.com/office/drawing/2014/main" id="{365BB361-3D91-304B-9530-D43A043C212D}"/>
              </a:ext>
            </a:extLst>
          </p:cNvPr>
          <p:cNvSpPr txBox="1"/>
          <p:nvPr/>
        </p:nvSpPr>
        <p:spPr>
          <a:xfrm>
            <a:off x="2486693" y="3620006"/>
            <a:ext cx="2386106" cy="3046988"/>
          </a:xfrm>
          <a:prstGeom prst="rect">
            <a:avLst/>
          </a:prstGeom>
          <a:noFill/>
        </p:spPr>
        <p:txBody>
          <a:bodyPr wrap="square">
            <a:spAutoFit/>
          </a:bodyPr>
          <a:lstStyle/>
          <a:p>
            <a:pPr algn="ctr"/>
            <a:r>
              <a:rPr lang="en-US" sz="1200" dirty="0">
                <a:latin typeface="Gill Sans" panose="020B0502020104020203" pitchFamily="34" charset="-79"/>
                <a:cs typeface="Gill Sans" panose="020B0502020104020203" pitchFamily="34" charset="-79"/>
              </a:rPr>
              <a:t>Neutral gas-phase Fe abundances along sightlines, shown in the squares as 12 + log(Fe/H) compared to the ionized gas-phase Fe abundance in the compact SMC H II region N66A. We measured the neutral gas-phase abundances from HST/COS and HST/STIS UV absorption spectra with stars as background continua. The Fe abundance of N66A is adopted from a VLT/UVES study by Domínguez-Guzmán et al. (2022); the small vertical rectangle in the bottom-middle indicates the position of the slit. </a:t>
            </a:r>
          </a:p>
        </p:txBody>
      </p:sp>
      <p:pic>
        <p:nvPicPr>
          <p:cNvPr id="29" name="Picture 28">
            <a:extLst>
              <a:ext uri="{FF2B5EF4-FFF2-40B4-BE49-F238E27FC236}">
                <a16:creationId xmlns:a16="http://schemas.microsoft.com/office/drawing/2014/main" id="{3760C6A0-6748-7B45-3CAB-C14142F5EDC5}"/>
              </a:ext>
            </a:extLst>
          </p:cNvPr>
          <p:cNvPicPr>
            <a:picLocks noChangeAspect="1"/>
          </p:cNvPicPr>
          <p:nvPr/>
        </p:nvPicPr>
        <p:blipFill>
          <a:blip r:embed="rId4"/>
          <a:srcRect/>
          <a:stretch/>
        </p:blipFill>
        <p:spPr>
          <a:xfrm>
            <a:off x="56425" y="3908815"/>
            <a:ext cx="2347130" cy="2347130"/>
          </a:xfrm>
          <a:prstGeom prst="rect">
            <a:avLst/>
          </a:prstGeom>
        </p:spPr>
      </p:pic>
    </p:spTree>
    <p:extLst>
      <p:ext uri="{BB962C8B-B14F-4D97-AF65-F5344CB8AC3E}">
        <p14:creationId xmlns:p14="http://schemas.microsoft.com/office/powerpoint/2010/main" val="3246071063"/>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76</TotalTime>
  <Words>208</Words>
  <Application>Microsoft Macintosh PowerPoint</Application>
  <PresentationFormat>A4 Paper (210x297 mm)</PresentationFormat>
  <Paragraphs>6</Paragraphs>
  <Slides>1</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vt:i4>
      </vt:variant>
    </vt:vector>
  </HeadingPairs>
  <TitlesOfParts>
    <vt:vector size="6" baseType="lpstr">
      <vt:lpstr>Aptos</vt:lpstr>
      <vt:lpstr>Aptos Display</vt:lpstr>
      <vt:lpstr>Arial</vt:lpstr>
      <vt:lpstr>Gill Sans</vt:lpstr>
      <vt:lpstr>Office Theme</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Billy Li</dc:creator>
  <cp:lastModifiedBy>Billy Li</cp:lastModifiedBy>
  <cp:revision>28</cp:revision>
  <cp:lastPrinted>2025-11-07T23:08:25Z</cp:lastPrinted>
  <dcterms:created xsi:type="dcterms:W3CDTF">2025-11-07T21:53:26Z</dcterms:created>
  <dcterms:modified xsi:type="dcterms:W3CDTF">2025-11-07T23:09:33Z</dcterms:modified>
</cp:coreProperties>
</file>